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6" r:id="rId9"/>
    <p:sldId id="265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014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B916F-B111-49F3-AE46-0E32B8273F4F}" type="datetimeFigureOut">
              <a:rPr lang="pt-BR" smtClean="0"/>
              <a:t>28/06/2023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8E4AD-471D-4837-9917-0B062D7915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501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E8E4AD-471D-4837-9917-0B062D791562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3959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28/06/2023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28/06/2023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28/06/2023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28/06/2023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28/06/2023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28/06/2023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28/06/2023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28/06/2023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pt-BR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 no ícone para adicionar uma imagem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28/06/2023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28/06/2023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28/06/2023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491149C1-D5DD-43C4-84A3-CB7447FF4C6B}" type="datetimeFigureOut">
              <a:rPr lang="pt-BR" smtClean="0"/>
              <a:t>28/06/2023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absp.org.br/servicos/tabelas/tabela-de-honorario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Moretti e </a:t>
            </a:r>
            <a:r>
              <a:rPr lang="pt-BR" dirty="0" err="1"/>
              <a:t>taccola</a:t>
            </a:r>
            <a:r>
              <a:rPr lang="pt-BR" dirty="0"/>
              <a:t> sociedade de advogados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Rua Braga, 394 </a:t>
            </a:r>
          </a:p>
          <a:p>
            <a:r>
              <a:rPr lang="pt-BR" dirty="0"/>
              <a:t>São Bernardo do Campo – SP</a:t>
            </a:r>
          </a:p>
          <a:p>
            <a:r>
              <a:rPr lang="pt-BR" dirty="0"/>
              <a:t>Telefone: </a:t>
            </a:r>
            <a:r>
              <a:rPr lang="pt-BR" dirty="0" smtClean="0"/>
              <a:t>011-2374-4921</a:t>
            </a:r>
          </a:p>
          <a:p>
            <a:r>
              <a:rPr lang="pt-BR" dirty="0" smtClean="0"/>
              <a:t>www.morettietaccola.adv.br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529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 pouco de nossa história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600200"/>
            <a:ext cx="9036496" cy="4709160"/>
          </a:xfrm>
        </p:spPr>
        <p:txBody>
          <a:bodyPr>
            <a:normAutofit/>
          </a:bodyPr>
          <a:lstStyle/>
          <a:p>
            <a:r>
              <a:rPr lang="pt-BR" sz="2000" dirty="0"/>
              <a:t>O escritório de advocacia </a:t>
            </a:r>
            <a:r>
              <a:rPr lang="pt-BR" sz="2000" i="1" dirty="0"/>
              <a:t>Moretti e </a:t>
            </a:r>
            <a:r>
              <a:rPr lang="pt-BR" sz="2000" i="1" dirty="0" err="1"/>
              <a:t>Taccola</a:t>
            </a:r>
            <a:r>
              <a:rPr lang="pt-BR" sz="2000" i="1" dirty="0"/>
              <a:t> </a:t>
            </a:r>
            <a:r>
              <a:rPr lang="pt-BR" sz="2000" dirty="0"/>
              <a:t>vem assessorando empresas há </a:t>
            </a:r>
            <a:r>
              <a:rPr lang="pt-BR" sz="2000" dirty="0" smtClean="0"/>
              <a:t>três </a:t>
            </a:r>
            <a:r>
              <a:rPr lang="pt-BR" sz="2000" dirty="0"/>
              <a:t>décadas.</a:t>
            </a:r>
          </a:p>
          <a:p>
            <a:r>
              <a:rPr lang="pt-BR" sz="2000" dirty="0"/>
              <a:t>Sua primeira sede foi em São Paulo, no Bairro de Moema, na Avenida Indianópolis, mudando-se para a Cidade de São Bernardo do Campo em 2016 onde encontra-se atualmente instalado.</a:t>
            </a:r>
          </a:p>
          <a:p>
            <a:r>
              <a:rPr lang="pt-BR" sz="2000" dirty="0"/>
              <a:t>O escritório de advocacia </a:t>
            </a:r>
            <a:r>
              <a:rPr lang="pt-BR" sz="2000" i="1" dirty="0"/>
              <a:t>Moretti e </a:t>
            </a:r>
            <a:r>
              <a:rPr lang="pt-BR" sz="2000" i="1" dirty="0" err="1"/>
              <a:t>Taccola</a:t>
            </a:r>
            <a:r>
              <a:rPr lang="pt-BR" sz="2000" i="1" dirty="0"/>
              <a:t> </a:t>
            </a:r>
            <a:r>
              <a:rPr lang="pt-BR" sz="2000" dirty="0"/>
              <a:t>possui em seu portfólio seleto, empresas nacionais e multinacionais que buscam um atendimento “</a:t>
            </a:r>
            <a:r>
              <a:rPr lang="pt-BR" sz="2000" i="1" dirty="0" err="1"/>
              <a:t>premium</a:t>
            </a:r>
            <a:r>
              <a:rPr lang="pt-BR" sz="2000" dirty="0"/>
              <a:t>” exclusivo e personalizado que não se limite a gestão de processos, mas, e principalmente, aconselhamento legal que permita ao empresário </a:t>
            </a:r>
            <a:r>
              <a:rPr lang="pt-BR" sz="2000" u="sng" dirty="0"/>
              <a:t>tomar decisões </a:t>
            </a:r>
            <a:r>
              <a:rPr lang="pt-BR" sz="2000" dirty="0"/>
              <a:t>com maior segurança.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5014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Moretti e </a:t>
            </a:r>
            <a:r>
              <a:rPr lang="pt-BR" dirty="0" err="1"/>
              <a:t>Taccola</a:t>
            </a:r>
            <a:r>
              <a:rPr lang="pt-BR" dirty="0"/>
              <a:t> Sociedade de Advogados - Atuação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O direito empresarial praticado por nosso escritório, compreende as </a:t>
            </a:r>
            <a:r>
              <a:rPr lang="pt-BR" sz="2400" dirty="0" err="1"/>
              <a:t>sub-áreas</a:t>
            </a:r>
            <a:r>
              <a:rPr lang="pt-BR" sz="2400" dirty="0"/>
              <a:t> do Direito Civil, Contratual, Trabalho, Tributário, Societário, </a:t>
            </a:r>
            <a:r>
              <a:rPr lang="pt-BR" sz="2400" dirty="0" smtClean="0"/>
              <a:t>Digital, Bancário </a:t>
            </a:r>
            <a:r>
              <a:rPr lang="pt-BR" sz="2400" dirty="0"/>
              <a:t>e Falimentar.</a:t>
            </a:r>
          </a:p>
          <a:p>
            <a:r>
              <a:rPr lang="pt-BR" sz="2400" dirty="0"/>
              <a:t>Todas estas em seus aspectos contencioso e preventivo.</a:t>
            </a:r>
          </a:p>
          <a:p>
            <a:r>
              <a:rPr lang="pt-BR" sz="2400" i="1" u="sng" dirty="0"/>
              <a:t>Prevenção</a:t>
            </a:r>
            <a:r>
              <a:rPr lang="pt-BR" sz="2400" dirty="0"/>
              <a:t> que é sem dúvida na atualidade a mais importante vertente de atuação de nosso escritório, postura que tem o condão de poupar a empresa de litígios muitas vezes desnecessários. </a:t>
            </a:r>
          </a:p>
        </p:txBody>
      </p:sp>
    </p:spTree>
    <p:extLst>
      <p:ext uri="{BB962C8B-B14F-4D97-AF65-F5344CB8AC3E}">
        <p14:creationId xmlns:p14="http://schemas.microsoft.com/office/powerpoint/2010/main" val="2690388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Empresa e Empresário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Nosso escritório atende aos interesses das Atividades Econômicas desenvolvidas por nossos clientes, mas, não pode nem deve desconsiderar o </a:t>
            </a:r>
            <a:r>
              <a:rPr lang="pt-BR" sz="2400" dirty="0" smtClean="0"/>
              <a:t>empresário  (pessoa física), </a:t>
            </a:r>
            <a:r>
              <a:rPr lang="pt-BR" sz="2400" dirty="0"/>
              <a:t>que precisa igualmente de atenção e cuidado quanto às suas questões pessoais.</a:t>
            </a:r>
          </a:p>
          <a:p>
            <a:r>
              <a:rPr lang="pt-BR" sz="2400" dirty="0"/>
              <a:t>O Direito de Família voltado aos aspectos empresariais, tais como: inventários, arrolamentos</a:t>
            </a:r>
            <a:r>
              <a:rPr lang="pt-BR" sz="2400" dirty="0" smtClean="0"/>
              <a:t>, holdings, </a:t>
            </a:r>
            <a:r>
              <a:rPr lang="pt-BR" sz="2400" dirty="0"/>
              <a:t>testamentos, </a:t>
            </a:r>
            <a:r>
              <a:rPr lang="pt-BR" sz="2400" dirty="0" smtClean="0"/>
              <a:t>organização patrimonial, regime </a:t>
            </a:r>
            <a:r>
              <a:rPr lang="pt-BR" sz="2400" dirty="0"/>
              <a:t>de bens no casamento e divórcios, são áreas que dominamos e que surgem conjugadas a nossa assessoria.</a:t>
            </a:r>
          </a:p>
        </p:txBody>
      </p:sp>
    </p:spTree>
    <p:extLst>
      <p:ext uri="{BB962C8B-B14F-4D97-AF65-F5344CB8AC3E}">
        <p14:creationId xmlns:p14="http://schemas.microsoft.com/office/powerpoint/2010/main" val="1172210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Departamento Jurídico Interno e advocacia terceirizada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Para os clientes que já contam com assessoria jurídica ou possuem departamento jurídico interno, nos dispomos a operar em parceria com os mesmos, já que nosso trabalho por seu caráter </a:t>
            </a:r>
            <a:r>
              <a:rPr lang="pt-BR" i="1" u="sng" dirty="0"/>
              <a:t>estratégico</a:t>
            </a:r>
            <a:r>
              <a:rPr lang="pt-BR" dirty="0"/>
              <a:t>, engloba, mas não se restringe à</a:t>
            </a:r>
            <a:r>
              <a:rPr lang="pt-BR" dirty="0" smtClean="0"/>
              <a:t> </a:t>
            </a:r>
            <a:r>
              <a:rPr lang="pt-BR" dirty="0"/>
              <a:t>questões operacionais.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079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Atendimento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O Atendimento a que se propõe nosso escritório por sua exclusividade e pessoalidade, surge limitado a um número seleto de clientes. </a:t>
            </a:r>
          </a:p>
          <a:p>
            <a:r>
              <a:rPr lang="pt-BR" sz="2400" dirty="0"/>
              <a:t>Reforçando </a:t>
            </a:r>
            <a:r>
              <a:rPr lang="pt-BR" sz="2400" dirty="0" smtClean="0"/>
              <a:t>a </a:t>
            </a:r>
            <a:r>
              <a:rPr lang="pt-BR" sz="2400" dirty="0"/>
              <a:t>questão da </a:t>
            </a:r>
            <a:r>
              <a:rPr lang="pt-BR" sz="2400" i="1" u="sng" dirty="0"/>
              <a:t>pessoalidade</a:t>
            </a:r>
            <a:r>
              <a:rPr lang="pt-BR" sz="2400" dirty="0"/>
              <a:t>, entendemos que reuniões presenciais com regularidade estabelecida em razão das necessidades de nossos clientes podem ser a melhor forma de esclarecer dúvidas, sem prejuízo dos meios digitais e telefônicos. 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4887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Cursos e Palestras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Cursos e Palestras “in </a:t>
            </a:r>
            <a:r>
              <a:rPr lang="pt-BR" sz="2400" dirty="0" err="1"/>
              <a:t>company</a:t>
            </a:r>
            <a:r>
              <a:rPr lang="pt-BR" sz="2400" dirty="0"/>
              <a:t>” podem ser ministrados em nossos clientes, visando o treinamento e capacitação de profissionais envolvidos em áreas estratégicas.</a:t>
            </a:r>
          </a:p>
          <a:p>
            <a:r>
              <a:rPr lang="pt-BR" sz="2400" dirty="0"/>
              <a:t>Temas ligados ao Direito são abordados em nossos cursos, de maneira didática e de fácil compreensão, com material de apoio para consultas posteriores. Tais palestras e cursos são </a:t>
            </a:r>
            <a:r>
              <a:rPr lang="pt-BR" sz="2400" dirty="0" smtClean="0"/>
              <a:t>cobrados </a:t>
            </a:r>
            <a:r>
              <a:rPr lang="pt-BR" sz="2400" dirty="0"/>
              <a:t>à parte desta proposta.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5106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/>
              </a:rPr>
              <a:t>P</a:t>
            </a:r>
            <a:r>
              <a:rPr lang="pt-BR" dirty="0" smtClean="0">
                <a:effectLst/>
              </a:rPr>
              <a:t>roposta </a:t>
            </a:r>
            <a:r>
              <a:rPr lang="pt-BR" dirty="0">
                <a:effectLst/>
              </a:rPr>
              <a:t>de prestação de serviços jurídicos.</a:t>
            </a:r>
            <a:br>
              <a:rPr lang="pt-BR" dirty="0">
                <a:effectLst/>
              </a:rPr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600200"/>
            <a:ext cx="8856984" cy="5141168"/>
          </a:xfrm>
        </p:spPr>
        <p:txBody>
          <a:bodyPr>
            <a:normAutofit/>
          </a:bodyPr>
          <a:lstStyle/>
          <a:p>
            <a:r>
              <a:rPr lang="pt-BR" dirty="0"/>
              <a:t>Nos pautamos na tabela de honorários advocatícios da OAB (</a:t>
            </a:r>
            <a:r>
              <a:rPr lang="pt-BR" u="sng" dirty="0">
                <a:hlinkClick r:id="rId2"/>
              </a:rPr>
              <a:t>https://www.oabsp.org.br/servicos/tabelas/tabela-de-honorarios</a:t>
            </a:r>
            <a:r>
              <a:rPr lang="pt-BR" dirty="0"/>
              <a:t>), para fixação de nossos honorários.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7470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21625AF-8FB0-47B2-BA1E-5E12C8B34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Autofit/>
          </a:bodyPr>
          <a:lstStyle/>
          <a:p>
            <a:r>
              <a:rPr lang="pt-BR" sz="2800" dirty="0"/>
              <a:t>Modelo de nosso contrato de prestação de serviços jurídicos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0C13A805-C67A-4E20-B212-845ACDFCD8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076896"/>
            <a:ext cx="4495800" cy="5323730"/>
          </a:xfrm>
        </p:spPr>
        <p:txBody>
          <a:bodyPr>
            <a:normAutofit fontScale="40000" lnSpcReduction="20000"/>
          </a:bodyPr>
          <a:lstStyle/>
          <a:p>
            <a:r>
              <a:rPr lang="pt-BR" b="1" i="1" dirty="0"/>
              <a:t>INSTRUMENTO PARTICULAR DE CONTRATO DE      PRESTAÇÃO DE SERVIÇOS PROFISSIONAIS E DE HONORÁRIOS ADVOCATÍCIOS.</a:t>
            </a:r>
            <a:endParaRPr lang="pt-BR" b="1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Pelo presente instrumento particular de contrato de prestação de serviços profissionais e de honorários advocatícios, de um lado,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I – MORETTI E TACCOLA SOCIEDADE DE ADVOGADOS</a:t>
            </a:r>
            <a:r>
              <a:rPr lang="pt-BR" i="1" dirty="0"/>
              <a:t>, inscrita no CNPJ sob o nº 21.387.901/0001-58 com endereço na Rua Braga, nº394, São Bernardo do Campo, doravante designada  </a:t>
            </a:r>
            <a:r>
              <a:rPr lang="pt-BR" b="1" i="1" dirty="0"/>
              <a:t>Contratada</a:t>
            </a:r>
            <a:r>
              <a:rPr lang="pt-BR" i="1" dirty="0"/>
              <a:t> e, de outro,</a:t>
            </a:r>
            <a:endParaRPr lang="pt-BR" dirty="0"/>
          </a:p>
          <a:p>
            <a:r>
              <a:rPr lang="pt-BR" b="1" i="1" dirty="0"/>
              <a:t>II </a:t>
            </a:r>
            <a:r>
              <a:rPr lang="pt-BR" b="1" i="1" dirty="0" smtClean="0"/>
              <a:t>– ...................</a:t>
            </a:r>
            <a:r>
              <a:rPr lang="pt-BR" dirty="0" smtClean="0"/>
              <a:t> </a:t>
            </a:r>
            <a:r>
              <a:rPr lang="pt-BR" dirty="0"/>
              <a:t>, CNPJ: </a:t>
            </a:r>
            <a:r>
              <a:rPr lang="pt-BR" dirty="0" smtClean="0"/>
              <a:t>.............</a:t>
            </a:r>
            <a:r>
              <a:rPr lang="pt-BR" i="1" dirty="0" smtClean="0"/>
              <a:t>, </a:t>
            </a:r>
            <a:r>
              <a:rPr lang="pt-BR" i="1" dirty="0"/>
              <a:t>pessoa jurídica de direito privado com sede na.................., 0, Município de.................– SP, doravante designada simplesmente </a:t>
            </a:r>
            <a:r>
              <a:rPr lang="pt-BR" b="1" i="1" dirty="0"/>
              <a:t>Contratante</a:t>
            </a:r>
            <a:r>
              <a:rPr lang="pt-BR" i="1" dirty="0"/>
              <a:t>,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partes que ajustam e contratam entre si o seguinte: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b="1" i="1" dirty="0"/>
              <a:t>DO OBJETO DA PRESTAÇÃO DE SERVIÇOS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i="1" dirty="0"/>
              <a:t>A Contratada prestará à Contratante seus serviços profissionais, não se comprometendo com resultados, na defesa dos interesses da Contratante, na área do direito empresarial.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DA DURAÇÃO DO CONTRATO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Este contrato terá vigência por tempo indeterminado, iniciando-se em........, podendo ser denunciado a qualquer tempo, por qualquer uma das partes por escrito, com 30 (trinta) dias de antecedência.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DOS HONORÁRIOS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Os honorários da Contratada serão de R$....000,00 (... </a:t>
            </a:r>
            <a:r>
              <a:rPr lang="pt-BR" i="1" dirty="0" smtClean="0"/>
              <a:t> </a:t>
            </a:r>
            <a:r>
              <a:rPr lang="pt-BR" i="1" dirty="0"/>
              <a:t>reais) mensais, tendo como vencimento todo dia 0 de cada mês.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CEBE5DA0-DA9A-401E-A2A1-64E5C7F6E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417638"/>
            <a:ext cx="4038600" cy="5035698"/>
          </a:xfrm>
        </p:spPr>
        <p:txBody>
          <a:bodyPr>
            <a:normAutofit fontScale="40000" lnSpcReduction="20000"/>
          </a:bodyPr>
          <a:lstStyle/>
          <a:p>
            <a:r>
              <a:rPr lang="pt-BR" i="1" dirty="0"/>
              <a:t>Este valor poderá ser revisto desde que as partes estejam de acordo, caso a carga de serviço contratado exceder o esperado quando da contratação.</a:t>
            </a:r>
            <a:endParaRPr lang="pt-BR" dirty="0"/>
          </a:p>
          <a:p>
            <a:r>
              <a:rPr lang="pt-BR" i="1" dirty="0"/>
              <a:t> </a:t>
            </a:r>
            <a:endParaRPr lang="pt-BR" dirty="0"/>
          </a:p>
          <a:p>
            <a:r>
              <a:rPr lang="pt-BR" i="1" dirty="0"/>
              <a:t>O presente valor será reajustado anualmente de acordo com </a:t>
            </a:r>
            <a:r>
              <a:rPr lang="pt-BR" i="1" dirty="0" smtClean="0"/>
              <a:t>a tabela da OAB vigente.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Despesas com custas processuais, locomoção e estadia, quando necessárias, serão custeadas pela Contratante. 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E, por estarem assim, justos e contratados assinam o presente em duas vias de igual teor e forma, para os efeitos legais.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São Bernardo do Campo,  0... de ... de </a:t>
            </a:r>
            <a:r>
              <a:rPr lang="pt-BR" i="1" dirty="0" smtClean="0"/>
              <a:t>2.023.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     _________________________________________________</a:t>
            </a:r>
            <a:endParaRPr lang="pt-BR" dirty="0"/>
          </a:p>
          <a:p>
            <a:r>
              <a:rPr lang="pt-BR" b="1" i="1" dirty="0"/>
              <a:t>MORETTI E TACCOLA SOCIEDADE DE ADVOGADOS </a:t>
            </a:r>
            <a:endParaRPr lang="pt-BR" b="1" dirty="0"/>
          </a:p>
          <a:p>
            <a:r>
              <a:rPr lang="pt-BR" b="1" i="1" dirty="0"/>
              <a:t>Eduardo Moretti 		Fábio </a:t>
            </a:r>
            <a:r>
              <a:rPr lang="pt-BR" b="1" i="1" dirty="0" err="1"/>
              <a:t>Taccola</a:t>
            </a:r>
            <a:endParaRPr lang="pt-BR" b="1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i="1" dirty="0" err="1"/>
              <a:t>xxxx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6772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pice">
  <a:themeElements>
    <a:clrScheme name="Ápice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Ápice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Áp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754</TotalTime>
  <Words>558</Words>
  <Application>Microsoft Office PowerPoint</Application>
  <PresentationFormat>Apresentação na tela (4:3)</PresentationFormat>
  <Paragraphs>72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Book Antiqua</vt:lpstr>
      <vt:lpstr>Calibri</vt:lpstr>
      <vt:lpstr>Lucida Sans</vt:lpstr>
      <vt:lpstr>Wingdings</vt:lpstr>
      <vt:lpstr>Wingdings 2</vt:lpstr>
      <vt:lpstr>Wingdings 3</vt:lpstr>
      <vt:lpstr>Ápice</vt:lpstr>
      <vt:lpstr>Moretti e taccola sociedade de advogados</vt:lpstr>
      <vt:lpstr>Um pouco de nossa história</vt:lpstr>
      <vt:lpstr>Moretti e Taccola Sociedade de Advogados - Atuação</vt:lpstr>
      <vt:lpstr>Empresa e Empresário</vt:lpstr>
      <vt:lpstr>Departamento Jurídico Interno e advocacia terceirizada</vt:lpstr>
      <vt:lpstr>Atendimento</vt:lpstr>
      <vt:lpstr>Cursos e Palestras</vt:lpstr>
      <vt:lpstr>Proposta de prestação de serviços jurídicos. </vt:lpstr>
      <vt:lpstr>Modelo de nosso contrato de prestação de serviços jurídicos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Moretti e taccola sociedade de advogados</dc:title>
  <dc:creator>professores02</dc:creator>
  <cp:lastModifiedBy>Moretti</cp:lastModifiedBy>
  <cp:revision>73</cp:revision>
  <dcterms:created xsi:type="dcterms:W3CDTF">2017-08-03T11:22:19Z</dcterms:created>
  <dcterms:modified xsi:type="dcterms:W3CDTF">2023-06-28T19:49:49Z</dcterms:modified>
</cp:coreProperties>
</file>